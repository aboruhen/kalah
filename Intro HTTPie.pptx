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CA8A93-06B6-4EC0-A5E5-50E3FA899ED9}">
  <a:tblStyle styleId="{53CA8A93-06B6-4EC0-A5E5-50E3FA899E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obotoMono-bold.fntdata"/><Relationship Id="rId14" Type="http://schemas.openxmlformats.org/officeDocument/2006/relationships/slide" Target="slides/slide8.xml"/><Relationship Id="rId36" Type="http://schemas.openxmlformats.org/officeDocument/2006/relationships/font" Target="fonts/RobotoMono-regular.fntdata"/><Relationship Id="rId17" Type="http://schemas.openxmlformats.org/officeDocument/2006/relationships/slide" Target="slides/slide11.xml"/><Relationship Id="rId39" Type="http://schemas.openxmlformats.org/officeDocument/2006/relationships/font" Target="fonts/RobotoMono-boldItalic.fntdata"/><Relationship Id="rId16" Type="http://schemas.openxmlformats.org/officeDocument/2006/relationships/slide" Target="slides/slide10.xml"/><Relationship Id="rId38" Type="http://schemas.openxmlformats.org/officeDocument/2006/relationships/font" Target="fonts/RobotoMon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uk">
                <a:solidFill>
                  <a:schemeClr val="dk1"/>
                </a:solidFill>
              </a:rPr>
              <a:t>І для чого нам щось нове? Postman чи curl - це ж було уже!</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05884cf9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05884cf9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05884cf93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05884cf93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05884cf93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05884cf93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05884cf93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05884cf93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05884cf93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05884cf93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05884cf93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05884cf93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05884cf93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05884cf93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05884cf931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05884cf93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05884cf93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05884cf93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05884cf93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05884cf93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05884cf93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05884cf93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5884cf931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5884cf93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05884cf931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05884cf93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05884cf931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05884cf931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05884cf93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05884cf93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05884cf93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05884cf93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5884cf93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5884cf93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05884cf931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05884cf931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05884cf93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05884cf93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05884cf93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05884cf93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5884cf93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5884cf93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5884cf931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05884cf931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uk"/>
              <a:t>Рухаємось дальше</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05884cf93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05884cf93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05884cf931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05884cf931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05884cf931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05884cf93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05884cf93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05884cf93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05884cf93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05884cf93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05884cf931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05884cf93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512375"/>
            <a:ext cx="8520600" cy="1329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uk"/>
              <a:t>HTTPie</a:t>
            </a:r>
            <a:endParaRPr/>
          </a:p>
        </p:txBody>
      </p:sp>
      <p:sp>
        <p:nvSpPr>
          <p:cNvPr id="55" name="Google Shape;55;p13"/>
          <p:cNvSpPr txBox="1"/>
          <p:nvPr>
            <p:ph idx="1" type="subTitle"/>
          </p:nvPr>
        </p:nvSpPr>
        <p:spPr>
          <a:xfrm>
            <a:off x="311700" y="2834125"/>
            <a:ext cx="8520600" cy="1217400"/>
          </a:xfrm>
          <a:prstGeom prst="rect">
            <a:avLst/>
          </a:prstGeom>
        </p:spPr>
        <p:txBody>
          <a:bodyPr anchorCtr="0" anchor="t" bIns="91425" lIns="91425" spcFirstLastPara="1" rIns="91425" wrap="square" tIns="91425">
            <a:normAutofit fontScale="47500" lnSpcReduction="20000"/>
          </a:bodyPr>
          <a:lstStyle/>
          <a:p>
            <a:pPr indent="0" lvl="0" marL="914400" rtl="0" algn="r">
              <a:spcBef>
                <a:spcPts val="0"/>
              </a:spcBef>
              <a:spcAft>
                <a:spcPts val="0"/>
              </a:spcAft>
              <a:buNone/>
            </a:pPr>
            <a:r>
              <a:rPr lang="uk" sz="5538"/>
              <a:t>Roman Kniazevych</a:t>
            </a:r>
            <a:endParaRPr sz="5538"/>
          </a:p>
          <a:p>
            <a:pPr indent="0" lvl="0" marL="914400" rtl="0" algn="r">
              <a:spcBef>
                <a:spcPts val="0"/>
              </a:spcBef>
              <a:spcAft>
                <a:spcPts val="0"/>
              </a:spcAft>
              <a:buNone/>
            </a:pPr>
            <a:r>
              <a:t/>
            </a:r>
            <a:endParaRPr/>
          </a:p>
          <a:p>
            <a:pPr indent="0" lvl="0" marL="457200" rtl="0" algn="r">
              <a:spcBef>
                <a:spcPts val="0"/>
              </a:spcBef>
              <a:spcAft>
                <a:spcPts val="0"/>
              </a:spcAft>
              <a:buNone/>
            </a:pPr>
            <a:r>
              <a:rPr lang="uk"/>
              <a:t>Levi9</a:t>
            </a:r>
            <a:endParaRPr/>
          </a:p>
          <a:p>
            <a:pPr indent="0" lvl="0" marL="457200" rtl="0" algn="r">
              <a:spcBef>
                <a:spcPts val="0"/>
              </a:spcBef>
              <a:spcAft>
                <a:spcPts val="0"/>
              </a:spcAft>
              <a:buNone/>
            </a:pPr>
            <a:r>
              <a:t/>
            </a:r>
            <a:endParaRPr/>
          </a:p>
          <a:p>
            <a:pPr indent="0" lvl="0" marL="457200" rtl="0" algn="r">
              <a:spcBef>
                <a:spcPts val="0"/>
              </a:spcBef>
              <a:spcAft>
                <a:spcPts val="0"/>
              </a:spcAft>
              <a:buNone/>
            </a:pPr>
            <a:r>
              <a:rPr lang="uk"/>
              <a:t>collaboration</a:t>
            </a:r>
            <a:r>
              <a:rPr lang="uk"/>
              <a:t> with ChatGPT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of </a:t>
            </a:r>
            <a:r>
              <a:rPr lang="uk"/>
              <a:t>desktop versions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66" name="Google Shape;66;p15"/>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lnSpc>
                          <a:spcPct val="115000"/>
                        </a:lnSpc>
                        <a:spcBef>
                          <a:spcPts val="0"/>
                        </a:spcBef>
                        <a:spcAft>
                          <a:spcPts val="1200"/>
                        </a:spcAft>
                        <a:buNone/>
                      </a:pPr>
                      <a:r>
                        <a:rPr b="1" lang="uk" sz="1300">
                          <a:solidFill>
                            <a:schemeClr val="dk1"/>
                          </a:solidFill>
                        </a:rPr>
                        <a:t>User Interface &amp; Ease of Use</a:t>
                      </a:r>
                      <a:endParaRPr/>
                    </a:p>
                  </a:txBody>
                  <a:tcPr marT="91425" marB="91425" marR="91425" marL="91425"/>
                </a:tc>
                <a:tc>
                  <a:txBody>
                    <a:bodyPr/>
                    <a:lstStyle/>
                    <a:p>
                      <a:pPr indent="0" lvl="0" marL="0" rtl="0" algn="l">
                        <a:spcBef>
                          <a:spcPts val="0"/>
                        </a:spcBef>
                        <a:spcAft>
                          <a:spcPts val="0"/>
                        </a:spcAft>
                        <a:buNone/>
                      </a:pPr>
                      <a:r>
                        <a:rPr b="1" lang="uk" sz="1100">
                          <a:solidFill>
                            <a:schemeClr val="dk1"/>
                          </a:solidFill>
                        </a:rPr>
                        <a:t>graphical user interface (GUI)</a:t>
                      </a:r>
                      <a:r>
                        <a:rPr lang="uk" sz="1100">
                          <a:solidFill>
                            <a:schemeClr val="dk1"/>
                          </a:solidFill>
                        </a:rPr>
                        <a:t>. More accessible to users who prefer not to use the command line.</a:t>
                      </a:r>
                      <a:endParaRPr sz="1100">
                        <a:solidFill>
                          <a:schemeClr val="dk1"/>
                        </a:solidFill>
                      </a:endParaRPr>
                    </a:p>
                    <a:p>
                      <a:pPr indent="0" lvl="0" marL="0" rtl="0" algn="l">
                        <a:spcBef>
                          <a:spcPts val="0"/>
                        </a:spcBef>
                        <a:spcAft>
                          <a:spcPts val="0"/>
                        </a:spcAft>
                        <a:buNone/>
                      </a:pPr>
                      <a:r>
                        <a:rPr lang="uk" sz="1100">
                          <a:solidFill>
                            <a:schemeClr val="dk1"/>
                          </a:solidFill>
                        </a:rPr>
                        <a:t>Beginner-friendly graphical interface. Drag-and-drop features, build complex requests without much technical knowledge.</a:t>
                      </a:r>
                      <a:endParaRPr sz="1100">
                        <a:solidFill>
                          <a:schemeClr val="dk1"/>
                        </a:solidFill>
                      </a:endParaRPr>
                    </a:p>
                  </a:txBody>
                  <a:tcPr marT="91425" marB="91425" marR="91425" marL="91425"/>
                </a:tc>
                <a:tc>
                  <a:txBody>
                    <a:bodyPr/>
                    <a:lstStyle/>
                    <a:p>
                      <a:pPr indent="0" lvl="0" marL="0" rtl="0" algn="l">
                        <a:spcBef>
                          <a:spcPts val="0"/>
                        </a:spcBef>
                        <a:spcAft>
                          <a:spcPts val="0"/>
                        </a:spcAft>
                        <a:buNone/>
                      </a:pPr>
                      <a:r>
                        <a:rPr b="1" lang="uk" sz="1100">
                          <a:solidFill>
                            <a:schemeClr val="dk1"/>
                          </a:solidFill>
                        </a:rPr>
                        <a:t>command-line interface (CLI)</a:t>
                      </a:r>
                      <a:r>
                        <a:rPr lang="uk" sz="1100">
                          <a:solidFill>
                            <a:schemeClr val="dk1"/>
                          </a:solidFill>
                        </a:rPr>
                        <a:t>. Requests from the terminal in a human-readable format.</a:t>
                      </a:r>
                      <a:endParaRPr sz="1100">
                        <a:solidFill>
                          <a:schemeClr val="dk1"/>
                        </a:solidFill>
                      </a:endParaRPr>
                    </a:p>
                    <a:p>
                      <a:pPr indent="0" lvl="0" marL="0" rtl="0" algn="l">
                        <a:spcBef>
                          <a:spcPts val="0"/>
                        </a:spcBef>
                        <a:spcAft>
                          <a:spcPts val="0"/>
                        </a:spcAft>
                        <a:buNone/>
                      </a:pPr>
                      <a:r>
                        <a:rPr lang="uk" sz="1100">
                          <a:solidFill>
                            <a:schemeClr val="dk1"/>
                          </a:solidFill>
                        </a:rPr>
                        <a:t>Simplifies making requests with intuitive syntax and is more lightweight for quick operations</a:t>
                      </a:r>
                      <a:endParaRPr sz="1100">
                        <a:solidFill>
                          <a:schemeClr val="dk1"/>
                        </a:solidFill>
                      </a:endParaRPr>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72" name="Google Shape;72;p16"/>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Feature Set</a:t>
                      </a:r>
                      <a:endParaRPr/>
                    </a:p>
                  </a:txBody>
                  <a:tcPr marT="91425" marB="91425" marR="91425" marL="91425"/>
                </a:tc>
                <a:tc>
                  <a:txBody>
                    <a:bodyPr/>
                    <a:lstStyle/>
                    <a:p>
                      <a:pPr indent="-298450" lvl="0" marL="457200" rtl="0" algn="l">
                        <a:spcBef>
                          <a:spcPts val="0"/>
                        </a:spcBef>
                        <a:spcAft>
                          <a:spcPts val="0"/>
                        </a:spcAft>
                        <a:buSzPts val="1100"/>
                        <a:buChar char="●"/>
                      </a:pPr>
                      <a:r>
                        <a:rPr lang="uk" sz="1100"/>
                        <a:t>Full-featured, with advanced capabilities like API collections, automated testing, environment management, and team collaboration.</a:t>
                      </a:r>
                      <a:endParaRPr sz="1100"/>
                    </a:p>
                    <a:p>
                      <a:pPr indent="-298450" lvl="0" marL="457200" rtl="0" algn="l">
                        <a:spcBef>
                          <a:spcPts val="0"/>
                        </a:spcBef>
                        <a:spcAft>
                          <a:spcPts val="0"/>
                        </a:spcAft>
                        <a:buSzPts val="1100"/>
                        <a:buChar char="●"/>
                      </a:pPr>
                      <a:r>
                        <a:rPr lang="uk" sz="1100"/>
                        <a:t>Supports request chaining, where you can pass the response from one request as input for another.</a:t>
                      </a:r>
                      <a:endParaRPr sz="1100"/>
                    </a:p>
                    <a:p>
                      <a:pPr indent="-298450" lvl="0" marL="457200" rtl="0" algn="l">
                        <a:spcBef>
                          <a:spcPts val="0"/>
                        </a:spcBef>
                        <a:spcAft>
                          <a:spcPts val="0"/>
                        </a:spcAft>
                        <a:buSzPts val="1100"/>
                        <a:buChar char="●"/>
                      </a:pPr>
                      <a:r>
                        <a:rPr lang="uk" sz="1100"/>
                        <a:t>Built-in support for variables, making it easier to work with different environments (development, production, etc.).</a:t>
                      </a:r>
                      <a:endParaRPr sz="1100"/>
                    </a:p>
                    <a:p>
                      <a:pPr indent="-298450" lvl="0" marL="457200" rtl="0" algn="l">
                        <a:spcBef>
                          <a:spcPts val="0"/>
                        </a:spcBef>
                        <a:spcAft>
                          <a:spcPts val="0"/>
                        </a:spcAft>
                        <a:buSzPts val="1100"/>
                        <a:buChar char="●"/>
                      </a:pPr>
                      <a:r>
                        <a:rPr lang="uk" sz="1100"/>
                        <a:t>Suitable for both simple and complex workflows.</a:t>
                      </a:r>
                      <a:endParaRPr sz="1100"/>
                    </a:p>
                    <a:p>
                      <a:pPr indent="0" lvl="0" marL="0" rtl="0" algn="l">
                        <a:spcBef>
                          <a:spcPts val="0"/>
                        </a:spcBef>
                        <a:spcAft>
                          <a:spcPts val="0"/>
                        </a:spcAft>
                        <a:buNone/>
                      </a:pPr>
                      <a:r>
                        <a:t/>
                      </a:r>
                      <a:endParaRPr/>
                    </a:p>
                  </a:txBody>
                  <a:tcPr marT="91425" marB="91425" marR="91425" marL="91425"/>
                </a:tc>
                <a:tc>
                  <a:txBody>
                    <a:bodyPr/>
                    <a:lstStyle/>
                    <a:p>
                      <a:pPr indent="-298450" lvl="0" marL="457200" rtl="0" algn="l">
                        <a:spcBef>
                          <a:spcPts val="0"/>
                        </a:spcBef>
                        <a:spcAft>
                          <a:spcPts val="0"/>
                        </a:spcAft>
                        <a:buSzPts val="1100"/>
                        <a:buChar char="●"/>
                      </a:pPr>
                      <a:r>
                        <a:rPr lang="uk" sz="1100"/>
                        <a:t>Lightweight and fast for simple requests.</a:t>
                      </a:r>
                      <a:endParaRPr sz="1100"/>
                    </a:p>
                    <a:p>
                      <a:pPr indent="-298450" lvl="0" marL="457200" rtl="0" algn="l">
                        <a:spcBef>
                          <a:spcPts val="0"/>
                        </a:spcBef>
                        <a:spcAft>
                          <a:spcPts val="0"/>
                        </a:spcAft>
                        <a:buSzPts val="1100"/>
                        <a:buChar char="●"/>
                      </a:pPr>
                      <a:r>
                        <a:rPr lang="uk" sz="1100"/>
                        <a:t>Supports HTTP methods (GET, POST, PUT, DELETE, etc.) and JSON by default.</a:t>
                      </a:r>
                      <a:endParaRPr sz="1100"/>
                    </a:p>
                    <a:p>
                      <a:pPr indent="-298450" lvl="0" marL="457200" rtl="0" algn="l">
                        <a:spcBef>
                          <a:spcPts val="0"/>
                        </a:spcBef>
                        <a:spcAft>
                          <a:spcPts val="0"/>
                        </a:spcAft>
                        <a:buSzPts val="1100"/>
                        <a:buChar char="●"/>
                      </a:pPr>
                      <a:r>
                        <a:rPr b="1" lang="uk" sz="1100"/>
                        <a:t>Great for scripting and automating requests</a:t>
                      </a:r>
                      <a:r>
                        <a:rPr lang="uk" sz="1100"/>
                        <a:t>.</a:t>
                      </a:r>
                      <a:endParaRPr sz="1100"/>
                    </a:p>
                    <a:p>
                      <a:pPr indent="-298450" lvl="0" marL="457200" rtl="0" algn="l">
                        <a:spcBef>
                          <a:spcPts val="0"/>
                        </a:spcBef>
                        <a:spcAft>
                          <a:spcPts val="0"/>
                        </a:spcAft>
                        <a:buSzPts val="1100"/>
                        <a:buChar char="●"/>
                      </a:pPr>
                      <a:r>
                        <a:rPr lang="uk" sz="1100"/>
                        <a:t>Minimalistic and focuses on HTTP communication.</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78" name="Google Shape;78;p17"/>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Automation &amp; Scripting</a:t>
                      </a:r>
                      <a:endParaRPr/>
                    </a:p>
                  </a:txBody>
                  <a:tcPr marT="91425" marB="91425" marR="91425" marL="91425"/>
                </a:tc>
                <a:tc>
                  <a:txBody>
                    <a:bodyPr/>
                    <a:lstStyle/>
                    <a:p>
                      <a:pPr indent="-298450" lvl="0" marL="457200" rtl="0" algn="l">
                        <a:spcBef>
                          <a:spcPts val="0"/>
                        </a:spcBef>
                        <a:spcAft>
                          <a:spcPts val="0"/>
                        </a:spcAft>
                        <a:buSzPts val="1100"/>
                        <a:buChar char="●"/>
                      </a:pPr>
                      <a:r>
                        <a:rPr lang="uk" sz="1100">
                          <a:solidFill>
                            <a:schemeClr val="dk1"/>
                          </a:solidFill>
                        </a:rPr>
                        <a:t> Also supports automation via its </a:t>
                      </a:r>
                      <a:r>
                        <a:rPr b="1" lang="uk" sz="1100">
                          <a:solidFill>
                            <a:schemeClr val="dk1"/>
                          </a:solidFill>
                        </a:rPr>
                        <a:t>Newman</a:t>
                      </a:r>
                      <a:r>
                        <a:rPr lang="uk" sz="1100">
                          <a:solidFill>
                            <a:schemeClr val="dk1"/>
                          </a:solidFill>
                        </a:rPr>
                        <a:t> command-line tool. It can be used to run Postman collections as part of CI/CD pipelines.</a:t>
                      </a:r>
                      <a:endParaRPr sz="1100"/>
                    </a:p>
                    <a:p>
                      <a:pPr indent="0" lvl="0" marL="0" rtl="0" algn="l">
                        <a:spcBef>
                          <a:spcPts val="0"/>
                        </a:spcBef>
                        <a:spcAft>
                          <a:spcPts val="0"/>
                        </a:spcAft>
                        <a:buNone/>
                      </a:pPr>
                      <a:r>
                        <a:t/>
                      </a:r>
                      <a:endParaRPr/>
                    </a:p>
                  </a:txBody>
                  <a:tcPr marT="91425" marB="91425" marR="91425" marL="91425"/>
                </a:tc>
                <a:tc>
                  <a:txBody>
                    <a:bodyPr/>
                    <a:lstStyle/>
                    <a:p>
                      <a:pPr indent="-298450" lvl="0" marL="457200" rtl="0" algn="l">
                        <a:spcBef>
                          <a:spcPts val="0"/>
                        </a:spcBef>
                        <a:spcAft>
                          <a:spcPts val="0"/>
                        </a:spcAft>
                        <a:buSzPts val="1100"/>
                        <a:buChar char="●"/>
                      </a:pPr>
                      <a:r>
                        <a:rPr lang="uk" sz="1100"/>
                        <a:t>Well-suited for automation as it's terminal-based and can be easily integrated into scripts, CI/CD pipelines, etc</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84" name="Google Shape;84;p18"/>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Extensibility</a:t>
                      </a:r>
                      <a:endParaRPr/>
                    </a:p>
                  </a:txBody>
                  <a:tcPr marT="91425" marB="91425" marR="91425" marL="91425"/>
                </a:tc>
                <a:tc>
                  <a:txBody>
                    <a:bodyPr/>
                    <a:lstStyle/>
                    <a:p>
                      <a:pPr indent="0" lvl="0" marL="0" rtl="0" algn="l">
                        <a:spcBef>
                          <a:spcPts val="0"/>
                        </a:spcBef>
                        <a:spcAft>
                          <a:spcPts val="0"/>
                        </a:spcAft>
                        <a:buNone/>
                      </a:pPr>
                      <a:r>
                        <a:rPr lang="uk" sz="1100"/>
                        <a:t>Offers a wide range of integrations (Slack, Jenkins, GitHub, etc.) and supports plugins for extending its functionality. It also offers an API for automation and reporting.</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sz="1100"/>
                        <a:t>Supports plugins and extensions to add new features, but it remains mostly focused on making HTTP requests.</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90" name="Google Shape;90;p19"/>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Extensibility</a:t>
                      </a:r>
                      <a:endParaRPr/>
                    </a:p>
                  </a:txBody>
                  <a:tcPr marT="91425" marB="91425" marR="91425" marL="91425"/>
                </a:tc>
                <a:tc>
                  <a:txBody>
                    <a:bodyPr/>
                    <a:lstStyle/>
                    <a:p>
                      <a:pPr indent="0" lvl="0" marL="0" rtl="0" algn="l">
                        <a:spcBef>
                          <a:spcPts val="0"/>
                        </a:spcBef>
                        <a:spcAft>
                          <a:spcPts val="0"/>
                        </a:spcAft>
                        <a:buNone/>
                      </a:pPr>
                      <a:r>
                        <a:rPr lang="uk" sz="1100"/>
                        <a:t>Although GUI-based and easy for beginners, some of the more advanced features (testing, scripting) may take time to master.</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sz="1100"/>
                        <a:t> Has a lower learning curve for developers already familiar with command-line tools. It’s very intuitive for simple API requests.</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96" name="Google Shape;96;p20"/>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Platform</a:t>
                      </a:r>
                      <a:endParaRPr/>
                    </a:p>
                  </a:txBody>
                  <a:tcPr marT="91425" marB="91425" marR="91425" marL="91425"/>
                </a:tc>
                <a:tc>
                  <a:txBody>
                    <a:bodyPr/>
                    <a:lstStyle/>
                    <a:p>
                      <a:pPr indent="0" lvl="0" marL="0" rtl="0" algn="l">
                        <a:spcBef>
                          <a:spcPts val="0"/>
                        </a:spcBef>
                        <a:spcAft>
                          <a:spcPts val="0"/>
                        </a:spcAft>
                        <a:buNone/>
                      </a:pPr>
                      <a:r>
                        <a:rPr lang="uk" sz="1100"/>
                        <a:t>Available as a desktop application for Linux, macOS, and Windows, as well as a web app.</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Cross-platform and runs in the terminal on Linux, macOS, and Windows. Recently, a </a:t>
                      </a:r>
                      <a:r>
                        <a:rPr b="1" lang="uk" sz="1100">
                          <a:solidFill>
                            <a:schemeClr val="dk1"/>
                          </a:solidFill>
                        </a:rPr>
                        <a:t>HTTPie Desktop</a:t>
                      </a:r>
                      <a:r>
                        <a:rPr lang="uk" sz="1100">
                          <a:solidFill>
                            <a:schemeClr val="dk1"/>
                          </a:solidFill>
                        </a:rPr>
                        <a:t> app with a GUI has also been launched to provide a graphical interface.</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102" name="Google Shape;102;p21"/>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Use Cases</a:t>
                      </a:r>
                      <a:endParaRPr/>
                    </a:p>
                  </a:txBody>
                  <a:tcPr marT="91425" marB="91425" marR="91425" marL="91425"/>
                </a:tc>
                <a:tc>
                  <a:txBody>
                    <a:bodyPr/>
                    <a:lstStyle/>
                    <a:p>
                      <a:pPr indent="0" lvl="0" marL="0" rtl="0" algn="l">
                        <a:spcBef>
                          <a:spcPts val="0"/>
                        </a:spcBef>
                        <a:spcAft>
                          <a:spcPts val="0"/>
                        </a:spcAft>
                        <a:buNone/>
                      </a:pPr>
                      <a:r>
                        <a:rPr lang="uk" sz="1100"/>
                        <a:t>Better suited for more complex API testing, development workflows, and team collaboration where GUI-based interactions, automated testing, and API monitoring are required.</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Ideal for developers who prefer command-line tools or need a lightweight, fast tool for simple HTTP requests.</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108" name="Google Shape;108;p22"/>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Use Cases</a:t>
                      </a:r>
                      <a:endParaRPr/>
                    </a:p>
                  </a:txBody>
                  <a:tcPr marT="91425" marB="91425" marR="91425" marL="91425"/>
                </a:tc>
                <a:tc>
                  <a:txBody>
                    <a:bodyPr/>
                    <a:lstStyle/>
                    <a:p>
                      <a:pPr indent="0" lvl="0" marL="0" rtl="0" algn="l">
                        <a:spcBef>
                          <a:spcPts val="0"/>
                        </a:spcBef>
                        <a:spcAft>
                          <a:spcPts val="0"/>
                        </a:spcAft>
                        <a:buNone/>
                      </a:pPr>
                      <a:r>
                        <a:rPr lang="uk" sz="1100"/>
                        <a:t>Better suited for more complex API testing, development workflows, and team collaboration where GUI-based interactions, automated testing, and API monitoring are required.</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Ideal for developers who prefer command-line tools or need a lightweight, fast tool for simple HTTP requests.</a:t>
                      </a:r>
                      <a:endParaRPr sz="1100"/>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Postman)</a:t>
            </a:r>
            <a:endParaRPr/>
          </a:p>
        </p:txBody>
      </p:sp>
      <p:graphicFrame>
        <p:nvGraphicFramePr>
          <p:cNvPr id="114" name="Google Shape;114;p23"/>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Postman</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lang="uk"/>
                        <a:t>Conclusion</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uk" sz="1100">
                          <a:solidFill>
                            <a:schemeClr val="dk1"/>
                          </a:solidFill>
                        </a:rPr>
                        <a:t>Choose </a:t>
                      </a:r>
                      <a:r>
                        <a:rPr lang="uk" sz="1100">
                          <a:solidFill>
                            <a:schemeClr val="dk1"/>
                          </a:solidFill>
                        </a:rPr>
                        <a:t>if:</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uk" sz="1100">
                          <a:solidFill>
                            <a:schemeClr val="dk1"/>
                          </a:solidFill>
                        </a:rPr>
                        <a:t>You prefer a GUI and want to create complex workflows and API tests.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uk" sz="1100">
                          <a:solidFill>
                            <a:schemeClr val="dk1"/>
                          </a:solidFill>
                        </a:rPr>
                        <a:t>You're working in a team and need collaboration, API monitoring, and testing features.</a:t>
                      </a:r>
                      <a:endParaRPr sz="1100">
                        <a:solidFill>
                          <a:schemeClr val="dk1"/>
                        </a:solidFill>
                      </a:endParaRPr>
                    </a:p>
                    <a:p>
                      <a:pPr indent="0" lvl="0" marL="0" rtl="0" algn="l">
                        <a:spcBef>
                          <a:spcPts val="1200"/>
                        </a:spcBef>
                        <a:spcAft>
                          <a:spcPts val="0"/>
                        </a:spcAft>
                        <a:buNone/>
                      </a:pPr>
                      <a:r>
                        <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uk" sz="1100">
                          <a:solidFill>
                            <a:schemeClr val="dk1"/>
                          </a:solidFill>
                        </a:rPr>
                        <a:t>Choose </a:t>
                      </a:r>
                      <a:r>
                        <a:rPr lang="uk" sz="1100">
                          <a:solidFill>
                            <a:schemeClr val="dk1"/>
                          </a:solidFill>
                        </a:rPr>
                        <a:t>if:</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uk" sz="1100">
                          <a:solidFill>
                            <a:schemeClr val="dk1"/>
                          </a:solidFill>
                        </a:rPr>
                        <a:t>You prefer working in the command line and need a fast, minimalistic tool.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uk" sz="1100">
                          <a:solidFill>
                            <a:schemeClr val="dk1"/>
                          </a:solidFill>
                        </a:rPr>
                        <a:t>You want a tool for scripting or quick API requests without much overhead.</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of terminal versions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graphicFrame>
        <p:nvGraphicFramePr>
          <p:cNvPr id="125" name="Google Shape;125;p25"/>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cUrl</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spcBef>
                          <a:spcPts val="0"/>
                        </a:spcBef>
                        <a:spcAft>
                          <a:spcPts val="0"/>
                        </a:spcAft>
                        <a:buNone/>
                      </a:pPr>
                      <a:r>
                        <a:rPr b="1" lang="uk" sz="1100">
                          <a:solidFill>
                            <a:schemeClr val="dk1"/>
                          </a:solidFill>
                        </a:rPr>
                        <a:t>Ease of Use</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More versatile but has a steeper learning curve. It offers powerful options and flexibility, but the syntax can be hard to remember for complex use cases. Output is plain, so it may require additional processing (e.g., piping to </a:t>
                      </a:r>
                      <a:r>
                        <a:rPr lang="uk" sz="1100">
                          <a:solidFill>
                            <a:srgbClr val="188038"/>
                          </a:solidFill>
                          <a:latin typeface="Roboto Mono"/>
                          <a:ea typeface="Roboto Mono"/>
                          <a:cs typeface="Roboto Mono"/>
                          <a:sym typeface="Roboto Mono"/>
                        </a:rPr>
                        <a:t>jq</a:t>
                      </a:r>
                      <a:r>
                        <a:rPr lang="uk" sz="1100">
                          <a:solidFill>
                            <a:schemeClr val="dk1"/>
                          </a:solidFill>
                        </a:rPr>
                        <a:t> for pretty-printing JSON).</a:t>
                      </a:r>
                      <a:endParaRPr sz="1100"/>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uk"/>
                        <a:t>Designed to be human-friendly and easy to use, with intuitive syntax that simplifies working with APIs. HTTPie provides colored output and automatic formatting of JSON responses, making it easier to read the output.</a:t>
                      </a:r>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pic>
        <p:nvPicPr>
          <p:cNvPr id="131" name="Google Shape;131;p26"/>
          <p:cNvPicPr preferRelativeResize="0"/>
          <p:nvPr/>
        </p:nvPicPr>
        <p:blipFill>
          <a:blip r:embed="rId3">
            <a:alphaModFix/>
          </a:blip>
          <a:stretch>
            <a:fillRect/>
          </a:stretch>
        </p:blipFill>
        <p:spPr>
          <a:xfrm>
            <a:off x="559450" y="1342200"/>
            <a:ext cx="8432150" cy="3564551"/>
          </a:xfrm>
          <a:prstGeom prst="rect">
            <a:avLst/>
          </a:prstGeom>
          <a:noFill/>
          <a:ln>
            <a:noFill/>
          </a:ln>
        </p:spPr>
      </p:pic>
      <p:sp>
        <p:nvSpPr>
          <p:cNvPr id="132" name="Google Shape;132;p26"/>
          <p:cNvSpPr txBox="1"/>
          <p:nvPr/>
        </p:nvSpPr>
        <p:spPr>
          <a:xfrm>
            <a:off x="559450" y="1017725"/>
            <a:ext cx="5406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uk" sz="1100">
                <a:solidFill>
                  <a:schemeClr val="dk1"/>
                </a:solidFill>
              </a:rPr>
              <a:t>Ease of Use</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aphicFrame>
        <p:nvGraphicFramePr>
          <p:cNvPr id="137" name="Google Shape;137;p27"/>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cUrl</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lnSpc>
                          <a:spcPct val="115000"/>
                        </a:lnSpc>
                        <a:spcBef>
                          <a:spcPts val="1400"/>
                        </a:spcBef>
                        <a:spcAft>
                          <a:spcPts val="400"/>
                        </a:spcAft>
                        <a:buNone/>
                      </a:pPr>
                      <a:r>
                        <a:rPr b="1" lang="uk" sz="1300">
                          <a:solidFill>
                            <a:schemeClr val="dk1"/>
                          </a:solidFill>
                        </a:rPr>
                        <a:t>Output Formatting</a:t>
                      </a:r>
                      <a:endParaRPr b="1" sz="1100">
                        <a:solidFill>
                          <a:schemeClr val="dk1"/>
                        </a:solidFill>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 Automatically formats JSON output and uses color-coding, making the response more readable by default.</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Does not automatically format the output; it's displayed raw. Users often pipe the output to utilities like </a:t>
                      </a:r>
                      <a:r>
                        <a:rPr lang="uk" sz="1100">
                          <a:solidFill>
                            <a:srgbClr val="188038"/>
                          </a:solidFill>
                          <a:latin typeface="Roboto Mono"/>
                          <a:ea typeface="Roboto Mono"/>
                          <a:cs typeface="Roboto Mono"/>
                          <a:sym typeface="Roboto Mono"/>
                        </a:rPr>
                        <a:t>jq</a:t>
                      </a:r>
                      <a:r>
                        <a:rPr lang="uk" sz="1100">
                          <a:solidFill>
                            <a:schemeClr val="dk1"/>
                          </a:solidFill>
                        </a:rPr>
                        <a:t> for better readability.</a:t>
                      </a:r>
                      <a:endParaRPr sz="1100">
                        <a:solidFill>
                          <a:schemeClr val="dk1"/>
                        </a:solidFill>
                      </a:endParaRPr>
                    </a:p>
                    <a:p>
                      <a:pPr indent="0" lvl="0" marL="0" rtl="0" algn="l">
                        <a:spcBef>
                          <a:spcPts val="0"/>
                        </a:spcBef>
                        <a:spcAft>
                          <a:spcPts val="0"/>
                        </a:spcAft>
                        <a:buNone/>
                      </a:pPr>
                      <a:r>
                        <a:t/>
                      </a:r>
                      <a:endParaRPr sz="1100"/>
                    </a:p>
                  </a:txBody>
                  <a:tcPr marT="91425" marB="91425" marR="91425" marL="91425"/>
                </a:tc>
              </a:tr>
            </a:tbl>
          </a:graphicData>
        </a:graphic>
      </p:graphicFrame>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
        <p:nvSpPr>
          <p:cNvPr id="144" name="Google Shape;144;p28"/>
          <p:cNvSpPr txBox="1"/>
          <p:nvPr/>
        </p:nvSpPr>
        <p:spPr>
          <a:xfrm>
            <a:off x="559450" y="1017725"/>
            <a:ext cx="54063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Clr>
                <a:schemeClr val="dk1"/>
              </a:buClr>
              <a:buSzPts val="1100"/>
              <a:buFont typeface="Arial"/>
              <a:buNone/>
            </a:pPr>
            <a:r>
              <a:rPr b="1" lang="uk" sz="1300">
                <a:solidFill>
                  <a:schemeClr val="dk1"/>
                </a:solidFill>
              </a:rPr>
              <a:t>Output Formatting</a:t>
            </a:r>
            <a:endParaRPr sz="1800">
              <a:solidFill>
                <a:schemeClr val="dk2"/>
              </a:solidFill>
            </a:endParaRPr>
          </a:p>
        </p:txBody>
      </p:sp>
      <p:pic>
        <p:nvPicPr>
          <p:cNvPr id="145" name="Google Shape;145;p28"/>
          <p:cNvPicPr preferRelativeResize="0"/>
          <p:nvPr/>
        </p:nvPicPr>
        <p:blipFill>
          <a:blip r:embed="rId3">
            <a:alphaModFix/>
          </a:blip>
          <a:stretch>
            <a:fillRect/>
          </a:stretch>
        </p:blipFill>
        <p:spPr>
          <a:xfrm>
            <a:off x="555913" y="1371725"/>
            <a:ext cx="8032186" cy="3466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aphicFrame>
        <p:nvGraphicFramePr>
          <p:cNvPr id="150" name="Google Shape;150;p29"/>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cUrl</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lnSpc>
                          <a:spcPct val="115000"/>
                        </a:lnSpc>
                        <a:spcBef>
                          <a:spcPts val="1400"/>
                        </a:spcBef>
                        <a:spcAft>
                          <a:spcPts val="400"/>
                        </a:spcAft>
                        <a:buNone/>
                      </a:pPr>
                      <a:r>
                        <a:rPr b="1" lang="uk" sz="1300">
                          <a:solidFill>
                            <a:schemeClr val="dk1"/>
                          </a:solidFill>
                        </a:rPr>
                        <a:t>Syntax Simplicity</a:t>
                      </a:r>
                      <a:endParaRPr b="1" sz="1100">
                        <a:solidFill>
                          <a:schemeClr val="dk1"/>
                        </a:solidFill>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Offers a more complex and flexible syntax, requiring the use of flags for almost every option. This gives you more control, but also makes it more verbose.</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Designed with a simple syntax that closely resembles natural language, making it intuitive for users.</a:t>
                      </a:r>
                      <a:endParaRPr sz="1100"/>
                    </a:p>
                  </a:txBody>
                  <a:tcPr marT="91425" marB="91425" marR="91425" marL="91425"/>
                </a:tc>
              </a:tr>
            </a:tbl>
          </a:graphicData>
        </a:graphic>
      </p:graphicFrame>
      <p:sp>
        <p:nvSpPr>
          <p:cNvPr id="151" name="Google Shape;15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
        <p:nvSpPr>
          <p:cNvPr id="157" name="Google Shape;157;p30"/>
          <p:cNvSpPr txBox="1"/>
          <p:nvPr/>
        </p:nvSpPr>
        <p:spPr>
          <a:xfrm>
            <a:off x="559450" y="1017725"/>
            <a:ext cx="5406300" cy="79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uk" sz="1300">
                <a:solidFill>
                  <a:schemeClr val="dk1"/>
                </a:solidFill>
              </a:rPr>
              <a:t>Syntax Simplicity</a:t>
            </a:r>
            <a:endParaRPr b="1" sz="1100">
              <a:solidFill>
                <a:schemeClr val="dk1"/>
              </a:solidFill>
            </a:endParaRPr>
          </a:p>
          <a:p>
            <a:pPr indent="0" lvl="0" marL="0" rtl="0" algn="l">
              <a:lnSpc>
                <a:spcPct val="115000"/>
              </a:lnSpc>
              <a:spcBef>
                <a:spcPts val="1400"/>
              </a:spcBef>
              <a:spcAft>
                <a:spcPts val="400"/>
              </a:spcAft>
              <a:buNone/>
            </a:pPr>
            <a:r>
              <a:t/>
            </a:r>
            <a:endParaRPr b="1" sz="1300">
              <a:solidFill>
                <a:schemeClr val="dk1"/>
              </a:solidFill>
            </a:endParaRPr>
          </a:p>
        </p:txBody>
      </p:sp>
      <p:pic>
        <p:nvPicPr>
          <p:cNvPr id="158" name="Google Shape;158;p30"/>
          <p:cNvPicPr preferRelativeResize="0"/>
          <p:nvPr/>
        </p:nvPicPr>
        <p:blipFill>
          <a:blip r:embed="rId3">
            <a:alphaModFix/>
          </a:blip>
          <a:stretch>
            <a:fillRect/>
          </a:stretch>
        </p:blipFill>
        <p:spPr>
          <a:xfrm>
            <a:off x="1045800" y="1429525"/>
            <a:ext cx="7052400" cy="3026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154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graphicFrame>
        <p:nvGraphicFramePr>
          <p:cNvPr id="164" name="Google Shape;164;p31"/>
          <p:cNvGraphicFramePr/>
          <p:nvPr/>
        </p:nvGraphicFramePr>
        <p:xfrm>
          <a:off x="417500" y="726750"/>
          <a:ext cx="3000000" cy="3000000"/>
        </p:xfrm>
        <a:graphic>
          <a:graphicData uri="http://schemas.openxmlformats.org/drawingml/2006/table">
            <a:tbl>
              <a:tblPr>
                <a:noFill/>
                <a:tableStyleId>{53CA8A93-06B6-4EC0-A5E5-50E3FA899ED9}</a:tableStyleId>
              </a:tblPr>
              <a:tblGrid>
                <a:gridCol w="1690275"/>
                <a:gridCol w="3849025"/>
                <a:gridCol w="2769650"/>
              </a:tblGrid>
              <a:tr h="3887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cUrl</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HTTPie</a:t>
                      </a:r>
                      <a:endParaRPr/>
                    </a:p>
                  </a:txBody>
                  <a:tcPr marT="91425" marB="91425" marR="91425" marL="91425"/>
                </a:tc>
              </a:tr>
              <a:tr h="1540250">
                <a:tc>
                  <a:txBody>
                    <a:bodyPr/>
                    <a:lstStyle/>
                    <a:p>
                      <a:pPr indent="0" lvl="0" marL="0" rtl="0" algn="l">
                        <a:lnSpc>
                          <a:spcPct val="115000"/>
                        </a:lnSpc>
                        <a:spcBef>
                          <a:spcPts val="1400"/>
                        </a:spcBef>
                        <a:spcAft>
                          <a:spcPts val="0"/>
                        </a:spcAft>
                        <a:buClr>
                          <a:schemeClr val="dk1"/>
                        </a:buClr>
                        <a:buSzPts val="1100"/>
                        <a:buFont typeface="Arial"/>
                        <a:buNone/>
                      </a:pPr>
                      <a:r>
                        <a:rPr b="1" lang="uk" sz="1300">
                          <a:solidFill>
                            <a:schemeClr val="dk1"/>
                          </a:solidFill>
                        </a:rPr>
                        <a:t>Feature Set and Flexibility</a:t>
                      </a:r>
                      <a:endParaRPr b="1" sz="1100">
                        <a:solidFill>
                          <a:schemeClr val="dk1"/>
                        </a:solidFill>
                      </a:endParaRPr>
                    </a:p>
                    <a:p>
                      <a:pPr indent="0" lvl="0" marL="0" rtl="0" algn="l">
                        <a:spcBef>
                          <a:spcPts val="40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sz="1100">
                          <a:solidFill>
                            <a:schemeClr val="dk1"/>
                          </a:solidFill>
                        </a:rPr>
                        <a:t>Extremely versatile. In addition to HTTP, it supports </a:t>
                      </a:r>
                      <a:r>
                        <a:rPr b="1" lang="uk" sz="1100">
                          <a:solidFill>
                            <a:schemeClr val="dk1"/>
                          </a:solidFill>
                        </a:rPr>
                        <a:t>FTP, SFTP, SCP, SMTP, POP3</a:t>
                      </a:r>
                      <a:r>
                        <a:rPr lang="uk" sz="1100">
                          <a:solidFill>
                            <a:schemeClr val="dk1"/>
                          </a:solidFill>
                        </a:rPr>
                        <a:t>, and many other protocols. It is often the go-to tool for network operations beyond HTTP.</a:t>
                      </a:r>
                      <a:endParaRPr sz="1100">
                        <a:solidFill>
                          <a:schemeClr val="dk1"/>
                        </a:solidFill>
                      </a:endParaRPr>
                    </a:p>
                    <a:p>
                      <a:pPr indent="0" lvl="0" marL="0" rtl="0" algn="l">
                        <a:spcBef>
                          <a:spcPts val="0"/>
                        </a:spcBef>
                        <a:spcAft>
                          <a:spcPts val="0"/>
                        </a:spcAft>
                        <a:buNone/>
                      </a:pPr>
                      <a:r>
                        <a:t/>
                      </a:r>
                      <a:endParaRPr sz="11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sz="1100">
                          <a:solidFill>
                            <a:schemeClr val="dk1"/>
                          </a:solidFill>
                        </a:rPr>
                        <a:t>Focuses primarily on </a:t>
                      </a:r>
                      <a:r>
                        <a:rPr b="1" lang="uk" sz="1100">
                          <a:solidFill>
                            <a:schemeClr val="dk1"/>
                          </a:solidFill>
                        </a:rPr>
                        <a:t>HTTP</a:t>
                      </a:r>
                      <a:r>
                        <a:rPr lang="uk" sz="1100">
                          <a:solidFill>
                            <a:schemeClr val="dk1"/>
                          </a:solidFill>
                        </a:rPr>
                        <a:t>. It has some advanced features like handling JSON by default, sending form data easily, and automatic basic authentication handling. However, it doesn't match cURL's flexibility for non-HTTP protocols.</a:t>
                      </a:r>
                      <a:endParaRPr sz="1100">
                        <a:solidFill>
                          <a:schemeClr val="dk1"/>
                        </a:solidFill>
                      </a:endParaRPr>
                    </a:p>
                    <a:p>
                      <a:pPr indent="0" lvl="0" marL="0" rtl="0" algn="l">
                        <a:spcBef>
                          <a:spcPts val="0"/>
                        </a:spcBef>
                        <a:spcAft>
                          <a:spcPts val="0"/>
                        </a:spcAft>
                        <a:buNone/>
                      </a:pPr>
                      <a:r>
                        <a:t/>
                      </a:r>
                      <a:endParaRPr sz="1100"/>
                    </a:p>
                  </a:txBody>
                  <a:tcPr marT="91425" marB="91425" marR="91425" marL="91425"/>
                </a:tc>
              </a:tr>
              <a:tr h="1100600">
                <a:tc>
                  <a:txBody>
                    <a:bodyPr/>
                    <a:lstStyle/>
                    <a:p>
                      <a:pPr indent="0" lvl="0" marL="0" rtl="0" algn="l">
                        <a:spcBef>
                          <a:spcPts val="0"/>
                        </a:spcBef>
                        <a:spcAft>
                          <a:spcPts val="0"/>
                        </a:spcAft>
                        <a:buNone/>
                      </a:pPr>
                      <a:r>
                        <a:rPr lang="uk"/>
                        <a:t>Protocol Support</a:t>
                      </a:r>
                      <a:endParaRPr/>
                    </a:p>
                  </a:txBody>
                  <a:tcPr marT="91425" marB="91425" marR="91425" marL="91425"/>
                </a:tc>
                <a:tc>
                  <a:txBody>
                    <a:bodyPr/>
                    <a:lstStyle/>
                    <a:p>
                      <a:pPr indent="0" lvl="0" marL="0" rtl="0" algn="l">
                        <a:lnSpc>
                          <a:spcPct val="115000"/>
                        </a:lnSpc>
                        <a:spcBef>
                          <a:spcPts val="1200"/>
                        </a:spcBef>
                        <a:spcAft>
                          <a:spcPts val="1200"/>
                        </a:spcAft>
                        <a:buNone/>
                      </a:pPr>
                      <a:r>
                        <a:rPr lang="uk" sz="1100">
                          <a:solidFill>
                            <a:schemeClr val="dk1"/>
                          </a:solidFill>
                        </a:rPr>
                        <a:t>Supports multiple protocols including </a:t>
                      </a:r>
                      <a:r>
                        <a:rPr b="1" lang="uk" sz="1100">
                          <a:solidFill>
                            <a:schemeClr val="dk1"/>
                          </a:solidFill>
                        </a:rPr>
                        <a:t>FTP, SFTP, SMTP, POP3</a:t>
                      </a:r>
                      <a:r>
                        <a:rPr lang="uk" sz="1100">
                          <a:solidFill>
                            <a:schemeClr val="dk1"/>
                          </a:solidFill>
                        </a:rPr>
                        <a:t>, etc., making it much more flexible for network-related operations beyond web APIs.</a:t>
                      </a:r>
                      <a:endParaRPr sz="1100"/>
                    </a:p>
                  </a:txBody>
                  <a:tcPr marT="91425" marB="91425" marR="91425" marL="91425"/>
                </a:tc>
                <a:tc>
                  <a:txBody>
                    <a:bodyPr/>
                    <a:lstStyle/>
                    <a:p>
                      <a:pPr indent="0" lvl="0" marL="0" rtl="0" algn="l">
                        <a:spcBef>
                          <a:spcPts val="0"/>
                        </a:spcBef>
                        <a:spcAft>
                          <a:spcPts val="0"/>
                        </a:spcAft>
                        <a:buNone/>
                      </a:pPr>
                      <a:r>
                        <a:rPr lang="uk" sz="1100">
                          <a:solidFill>
                            <a:schemeClr val="dk1"/>
                          </a:solidFill>
                        </a:rPr>
                        <a:t>Primarily designed for </a:t>
                      </a:r>
                      <a:r>
                        <a:rPr b="1" lang="uk" sz="1100">
                          <a:solidFill>
                            <a:schemeClr val="dk1"/>
                          </a:solidFill>
                        </a:rPr>
                        <a:t>HTTP/HTTPS</a:t>
                      </a:r>
                      <a:r>
                        <a:rPr lang="uk" sz="1100">
                          <a:solidFill>
                            <a:schemeClr val="dk1"/>
                          </a:solidFill>
                        </a:rPr>
                        <a:t> requests.</a:t>
                      </a:r>
                      <a:endParaRPr sz="1100"/>
                    </a:p>
                  </a:txBody>
                  <a:tcPr marT="91425" marB="91425" marR="91425" marL="91425"/>
                </a:tc>
              </a:tr>
              <a:tr h="373850">
                <a:tc>
                  <a:txBody>
                    <a:bodyPr/>
                    <a:lstStyle/>
                    <a:p>
                      <a:pPr indent="0" lvl="0" marL="0" rtl="0" algn="l">
                        <a:spcBef>
                          <a:spcPts val="0"/>
                        </a:spcBef>
                        <a:spcAft>
                          <a:spcPts val="0"/>
                        </a:spcAft>
                        <a:buNone/>
                      </a:pPr>
                      <a:r>
                        <a:rPr lang="uk"/>
                        <a:t>Customization</a:t>
                      </a:r>
                      <a:endParaRPr/>
                    </a:p>
                  </a:txBody>
                  <a:tcPr marT="91425" marB="91425" marR="91425" marL="91425"/>
                </a:tc>
                <a:tc>
                  <a:txBody>
                    <a:bodyPr/>
                    <a:lstStyle/>
                    <a:p>
                      <a:pPr indent="0" lvl="0" marL="0" rtl="0" algn="l">
                        <a:spcBef>
                          <a:spcPts val="0"/>
                        </a:spcBef>
                        <a:spcAft>
                          <a:spcPts val="0"/>
                        </a:spcAft>
                        <a:buNone/>
                      </a:pPr>
                      <a:r>
                        <a:rPr lang="uk" sz="1100"/>
                        <a:t>Highly customizable with a huge number of flags to fine-tune almost every aspect of your requests, from headers to retry policies and more.</a:t>
                      </a:r>
                      <a:endParaRPr sz="1100"/>
                    </a:p>
                  </a:txBody>
                  <a:tcPr marT="91425" marB="91425" marR="91425" marL="91425"/>
                </a:tc>
                <a:tc>
                  <a:txBody>
                    <a:bodyPr/>
                    <a:lstStyle/>
                    <a:p>
                      <a:pPr indent="0" lvl="0" marL="0" rtl="0" algn="l">
                        <a:spcBef>
                          <a:spcPts val="0"/>
                        </a:spcBef>
                        <a:spcAft>
                          <a:spcPts val="0"/>
                        </a:spcAft>
                        <a:buNone/>
                      </a:pPr>
                      <a:r>
                        <a:rPr lang="uk" sz="1100"/>
                        <a:t>Focused on providing a consistent, human-readable experience, so it has fewer customization options. However, it supports plugins.</a:t>
                      </a:r>
                      <a:endParaRPr sz="1100"/>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311700" y="154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graphicFrame>
        <p:nvGraphicFramePr>
          <p:cNvPr id="170" name="Google Shape;170;p32"/>
          <p:cNvGraphicFramePr/>
          <p:nvPr/>
        </p:nvGraphicFramePr>
        <p:xfrm>
          <a:off x="417500" y="726750"/>
          <a:ext cx="3000000" cy="3000000"/>
        </p:xfrm>
        <a:graphic>
          <a:graphicData uri="http://schemas.openxmlformats.org/drawingml/2006/table">
            <a:tbl>
              <a:tblPr>
                <a:noFill/>
                <a:tableStyleId>{53CA8A93-06B6-4EC0-A5E5-50E3FA899ED9}</a:tableStyleId>
              </a:tblPr>
              <a:tblGrid>
                <a:gridCol w="1690275"/>
                <a:gridCol w="3849025"/>
                <a:gridCol w="2769650"/>
              </a:tblGrid>
              <a:tr h="38877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cUrl</a:t>
                      </a:r>
                      <a:endParaRPr/>
                    </a:p>
                  </a:txBody>
                  <a:tcPr marT="91425" marB="91425" marR="91425" marL="91425"/>
                </a:tc>
                <a:tc>
                  <a:txBody>
                    <a:bodyPr/>
                    <a:lstStyle/>
                    <a:p>
                      <a:pPr indent="0" lvl="0" marL="0" rtl="0" algn="l">
                        <a:spcBef>
                          <a:spcPts val="0"/>
                        </a:spcBef>
                        <a:spcAft>
                          <a:spcPts val="0"/>
                        </a:spcAft>
                        <a:buNone/>
                      </a:pPr>
                      <a:r>
                        <a:rPr lang="uk">
                          <a:solidFill>
                            <a:schemeClr val="dk1"/>
                          </a:solidFill>
                        </a:rPr>
                        <a:t>HTTPie</a:t>
                      </a:r>
                      <a:endParaRPr/>
                    </a:p>
                  </a:txBody>
                  <a:tcPr marT="91425" marB="91425" marR="91425" marL="91425"/>
                </a:tc>
              </a:tr>
              <a:tr h="1540250">
                <a:tc>
                  <a:txBody>
                    <a:bodyPr/>
                    <a:lstStyle/>
                    <a:p>
                      <a:pPr indent="0" lvl="0" marL="0" rtl="0" algn="l">
                        <a:spcBef>
                          <a:spcPts val="0"/>
                        </a:spcBef>
                        <a:spcAft>
                          <a:spcPts val="0"/>
                        </a:spcAft>
                        <a:buNone/>
                      </a:pPr>
                      <a:r>
                        <a:rPr b="1" lang="uk" sz="1300">
                          <a:solidFill>
                            <a:schemeClr val="dk1"/>
                          </a:solidFill>
                        </a:rPr>
                        <a:t>Learning Curve</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Steeper learning curve, especially when working with advanced features, but it is extremely powerful for those who need precise control over their requests.</a:t>
                      </a:r>
                      <a:endParaRPr sz="1100"/>
                    </a:p>
                  </a:txBody>
                  <a:tcPr marT="91425" marB="91425" marR="91425" marL="91425"/>
                </a:tc>
                <a:tc>
                  <a:txBody>
                    <a:bodyPr/>
                    <a:lstStyle/>
                    <a:p>
                      <a:pPr indent="0" lvl="0" marL="0" rtl="0" algn="l">
                        <a:spcBef>
                          <a:spcPts val="0"/>
                        </a:spcBef>
                        <a:spcAft>
                          <a:spcPts val="0"/>
                        </a:spcAft>
                        <a:buNone/>
                      </a:pPr>
                      <a:r>
                        <a:rPr lang="uk" sz="1100">
                          <a:solidFill>
                            <a:schemeClr val="dk1"/>
                          </a:solidFill>
                        </a:rPr>
                        <a:t>Low learning curve, ideal for users who want to make simple HTTP requests quickly without delving into detailed syntax.</a:t>
                      </a:r>
                      <a:endParaRPr sz="1100"/>
                    </a:p>
                  </a:txBody>
                  <a:tcPr marT="91425" marB="91425" marR="91425" marL="91425"/>
                </a:tc>
              </a:tr>
              <a:tr h="1100600">
                <a:tc>
                  <a:txBody>
                    <a:bodyPr/>
                    <a:lstStyle/>
                    <a:p>
                      <a:pPr indent="0" lvl="0" marL="0" rtl="0" algn="l">
                        <a:spcBef>
                          <a:spcPts val="0"/>
                        </a:spcBef>
                        <a:spcAft>
                          <a:spcPts val="0"/>
                        </a:spcAft>
                        <a:buNone/>
                      </a:pPr>
                      <a:r>
                        <a:rPr lang="uk"/>
                        <a:t>Installation and Platform</a:t>
                      </a:r>
                      <a:endParaRPr/>
                    </a:p>
                  </a:txBody>
                  <a:tcPr marT="91425" marB="91425" marR="91425" marL="91425"/>
                </a:tc>
                <a:tc>
                  <a:txBody>
                    <a:bodyPr/>
                    <a:lstStyle/>
                    <a:p>
                      <a:pPr indent="0" lvl="0" marL="0" rtl="0" algn="l">
                        <a:lnSpc>
                          <a:spcPct val="115000"/>
                        </a:lnSpc>
                        <a:spcBef>
                          <a:spcPts val="1200"/>
                        </a:spcBef>
                        <a:spcAft>
                          <a:spcPts val="1200"/>
                        </a:spcAft>
                        <a:buNone/>
                      </a:pPr>
                      <a:r>
                        <a:rPr lang="uk" sz="1100">
                          <a:solidFill>
                            <a:schemeClr val="dk1"/>
                          </a:solidFill>
                        </a:rPr>
                        <a:t>Almost always pre-installed on Linux and macOS, and easily available on Windows.</a:t>
                      </a:r>
                      <a:endParaRPr sz="1100"/>
                    </a:p>
                  </a:txBody>
                  <a:tcPr marT="91425" marB="91425" marR="91425" marL="91425"/>
                </a:tc>
                <a:tc>
                  <a:txBody>
                    <a:bodyPr/>
                    <a:lstStyle/>
                    <a:p>
                      <a:pPr indent="0" lvl="0" marL="0" rtl="0" algn="l">
                        <a:spcBef>
                          <a:spcPts val="0"/>
                        </a:spcBef>
                        <a:spcAft>
                          <a:spcPts val="0"/>
                        </a:spcAft>
                        <a:buNone/>
                      </a:pPr>
                      <a:r>
                        <a:rPr lang="uk" sz="1100">
                          <a:solidFill>
                            <a:schemeClr val="dk1"/>
                          </a:solidFill>
                        </a:rPr>
                        <a:t> Available on most platforms (Linux, macOS, Windows), but not as universally pre-installed as cURL.</a:t>
                      </a:r>
                      <a:endParaRPr sz="1100"/>
                    </a:p>
                  </a:txBody>
                  <a:tcPr marT="91425" marB="91425" marR="91425" marL="91425"/>
                </a:tc>
              </a:tr>
              <a:tr h="373850">
                <a:tc>
                  <a:txBody>
                    <a:bodyPr/>
                    <a:lstStyle/>
                    <a:p>
                      <a:pPr indent="0" lvl="0" marL="0" rtl="0" algn="l">
                        <a:spcBef>
                          <a:spcPts val="0"/>
                        </a:spcBef>
                        <a:spcAft>
                          <a:spcPts val="0"/>
                        </a:spcAft>
                        <a:buNone/>
                      </a:pPr>
                      <a:r>
                        <a:rPr lang="uk"/>
                        <a:t>Scripting and Automation</a:t>
                      </a:r>
                      <a:endParaRPr/>
                    </a:p>
                  </a:txBody>
                  <a:tcPr marT="91425" marB="91425" marR="91425" marL="91425"/>
                </a:tc>
                <a:tc>
                  <a:txBody>
                    <a:bodyPr/>
                    <a:lstStyle/>
                    <a:p>
                      <a:pPr indent="0" lvl="0" marL="0" rtl="0" algn="l">
                        <a:spcBef>
                          <a:spcPts val="0"/>
                        </a:spcBef>
                        <a:spcAft>
                          <a:spcPts val="0"/>
                        </a:spcAft>
                        <a:buNone/>
                      </a:pPr>
                      <a:r>
                        <a:rPr lang="uk" sz="1100"/>
                        <a:t>Frequently used in scripting and automation. Its comprehensive set of features and options allows it to handle a wide range of tasks in scripts, such as file transfers, data manipulation, and web scraping.</a:t>
                      </a:r>
                      <a:endParaRPr sz="1100"/>
                    </a:p>
                  </a:txBody>
                  <a:tcPr marT="91425" marB="91425" marR="91425" marL="91425"/>
                </a:tc>
                <a:tc>
                  <a:txBody>
                    <a:bodyPr/>
                    <a:lstStyle/>
                    <a:p>
                      <a:pPr indent="0" lvl="0" marL="0" rtl="0" algn="l">
                        <a:spcBef>
                          <a:spcPts val="0"/>
                        </a:spcBef>
                        <a:spcAft>
                          <a:spcPts val="0"/>
                        </a:spcAft>
                        <a:buNone/>
                      </a:pPr>
                      <a:r>
                        <a:rPr lang="uk" sz="1100"/>
                        <a:t>Simpler for human use but can still be used in scripts for basic HTTP interactions. It is less widely used in complex automation due to its simplicity and focus on usability.</a:t>
                      </a:r>
                      <a:endParaRPr sz="1100"/>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graphicFrame>
        <p:nvGraphicFramePr>
          <p:cNvPr id="175" name="Google Shape;175;p33"/>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cUrl</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lnSpc>
                          <a:spcPct val="115000"/>
                        </a:lnSpc>
                        <a:spcBef>
                          <a:spcPts val="1400"/>
                        </a:spcBef>
                        <a:spcAft>
                          <a:spcPts val="400"/>
                        </a:spcAft>
                        <a:buNone/>
                      </a:pPr>
                      <a:r>
                        <a:rPr b="1" lang="uk" sz="1300">
                          <a:solidFill>
                            <a:schemeClr val="dk1"/>
                          </a:solidFill>
                        </a:rPr>
                        <a:t>Authentication</a:t>
                      </a:r>
                      <a:endParaRPr b="1" sz="1100">
                        <a:solidFill>
                          <a:schemeClr val="dk1"/>
                        </a:solidFill>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Can handle all forms of authentication but typically requires more detailed syntax.</a:t>
                      </a:r>
                      <a:endParaRPr/>
                    </a:p>
                  </a:txBody>
                  <a:tcPr marT="91425" marB="91425" marR="91425" marL="91425"/>
                </a:tc>
                <a:tc>
                  <a:txBody>
                    <a:bodyPr/>
                    <a:lstStyle/>
                    <a:p>
                      <a:pPr indent="0" lvl="0" marL="0" rtl="0" algn="l">
                        <a:spcBef>
                          <a:spcPts val="0"/>
                        </a:spcBef>
                        <a:spcAft>
                          <a:spcPts val="0"/>
                        </a:spcAft>
                        <a:buNone/>
                      </a:pPr>
                      <a:r>
                        <a:rPr lang="uk" sz="1100">
                          <a:solidFill>
                            <a:schemeClr val="dk1"/>
                          </a:solidFill>
                        </a:rPr>
                        <a:t>Simplifies the process of passing authentication tokens or credentials. It supports basic authentication (</a:t>
                      </a:r>
                      <a:r>
                        <a:rPr lang="uk" sz="1100">
                          <a:solidFill>
                            <a:srgbClr val="188038"/>
                          </a:solidFill>
                          <a:latin typeface="Roboto Mono"/>
                          <a:ea typeface="Roboto Mono"/>
                          <a:cs typeface="Roboto Mono"/>
                          <a:sym typeface="Roboto Mono"/>
                        </a:rPr>
                        <a:t>-a</a:t>
                      </a:r>
                      <a:r>
                        <a:rPr lang="uk" sz="1100">
                          <a:solidFill>
                            <a:schemeClr val="dk1"/>
                          </a:solidFill>
                        </a:rPr>
                        <a:t> flag), bearer tokens, and others more intuitively.</a:t>
                      </a:r>
                      <a:endParaRPr sz="1100"/>
                    </a:p>
                  </a:txBody>
                  <a:tcPr marT="91425" marB="91425" marR="91425" marL="91425"/>
                </a:tc>
              </a:tr>
            </a:tbl>
          </a:graphicData>
        </a:graphic>
      </p:graphicFrame>
      <p:sp>
        <p:nvSpPr>
          <p:cNvPr id="176" name="Google Shape;17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
        <p:nvSpPr>
          <p:cNvPr id="182" name="Google Shape;182;p34"/>
          <p:cNvSpPr txBox="1"/>
          <p:nvPr/>
        </p:nvSpPr>
        <p:spPr>
          <a:xfrm>
            <a:off x="559450" y="1017725"/>
            <a:ext cx="54063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uk" sz="1300">
                <a:solidFill>
                  <a:schemeClr val="dk1"/>
                </a:solidFill>
              </a:rPr>
              <a:t>Authentication</a:t>
            </a:r>
            <a:endParaRPr b="1" sz="1300">
              <a:solidFill>
                <a:schemeClr val="dk1"/>
              </a:solidFill>
            </a:endParaRPr>
          </a:p>
        </p:txBody>
      </p:sp>
      <p:pic>
        <p:nvPicPr>
          <p:cNvPr id="183" name="Google Shape;183;p34"/>
          <p:cNvPicPr preferRelativeResize="0"/>
          <p:nvPr/>
        </p:nvPicPr>
        <p:blipFill>
          <a:blip r:embed="rId3">
            <a:alphaModFix/>
          </a:blip>
          <a:stretch>
            <a:fillRect/>
          </a:stretch>
        </p:blipFill>
        <p:spPr>
          <a:xfrm>
            <a:off x="643525" y="1357925"/>
            <a:ext cx="7856945" cy="34360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graphicFrame>
        <p:nvGraphicFramePr>
          <p:cNvPr id="188" name="Google Shape;188;p35"/>
          <p:cNvGraphicFramePr/>
          <p:nvPr/>
        </p:nvGraphicFramePr>
        <p:xfrm>
          <a:off x="952500" y="1238250"/>
          <a:ext cx="3000000" cy="3000000"/>
        </p:xfrm>
        <a:graphic>
          <a:graphicData uri="http://schemas.openxmlformats.org/drawingml/2006/table">
            <a:tbl>
              <a:tblPr>
                <a:noFill/>
                <a:tableStyleId>{53CA8A93-06B6-4EC0-A5E5-50E3FA899ED9}</a:tableStyleId>
              </a:tblPr>
              <a:tblGrid>
                <a:gridCol w="2413000"/>
                <a:gridCol w="2413000"/>
                <a:gridCol w="24130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uk">
                          <a:solidFill>
                            <a:schemeClr val="dk1"/>
                          </a:solidFill>
                        </a:rPr>
                        <a:t>cUrl</a:t>
                      </a:r>
                      <a:endParaRPr/>
                    </a:p>
                  </a:txBody>
                  <a:tcPr marT="91425" marB="91425" marR="91425" marL="91425"/>
                </a:tc>
                <a:tc>
                  <a:txBody>
                    <a:bodyPr/>
                    <a:lstStyle/>
                    <a:p>
                      <a:pPr indent="0" lvl="0" marL="0" rtl="0" algn="l">
                        <a:spcBef>
                          <a:spcPts val="0"/>
                        </a:spcBef>
                        <a:spcAft>
                          <a:spcPts val="0"/>
                        </a:spcAft>
                        <a:buNone/>
                      </a:pPr>
                      <a:r>
                        <a:rPr lang="uk"/>
                        <a:t>HTTPie</a:t>
                      </a:r>
                      <a:endParaRPr/>
                    </a:p>
                  </a:txBody>
                  <a:tcPr marT="91425" marB="91425" marR="91425" marL="91425"/>
                </a:tc>
              </a:tr>
              <a:tr h="381000">
                <a:tc>
                  <a:txBody>
                    <a:bodyPr/>
                    <a:lstStyle/>
                    <a:p>
                      <a:pPr indent="0" lvl="0" marL="0" rtl="0" algn="l">
                        <a:lnSpc>
                          <a:spcPct val="115000"/>
                        </a:lnSpc>
                        <a:spcBef>
                          <a:spcPts val="1400"/>
                        </a:spcBef>
                        <a:spcAft>
                          <a:spcPts val="400"/>
                        </a:spcAft>
                        <a:buNone/>
                      </a:pPr>
                      <a:r>
                        <a:rPr b="1" lang="uk" sz="1300">
                          <a:solidFill>
                            <a:schemeClr val="dk1"/>
                          </a:solidFill>
                        </a:rPr>
                        <a:t>Conclusion</a:t>
                      </a:r>
                      <a:endParaRPr b="1" sz="1100">
                        <a:solidFill>
                          <a:schemeClr val="dk1"/>
                        </a:solidFill>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b="1" lang="uk" sz="1100">
                          <a:solidFill>
                            <a:schemeClr val="dk1"/>
                          </a:solidFill>
                        </a:rPr>
                        <a:t>Use </a:t>
                      </a:r>
                      <a:r>
                        <a:rPr lang="uk" sz="1100">
                          <a:solidFill>
                            <a:schemeClr val="dk1"/>
                          </a:solidFill>
                        </a:rPr>
                        <a:t>if:</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uk" sz="1100">
                          <a:solidFill>
                            <a:schemeClr val="dk1"/>
                          </a:solidFill>
                        </a:rPr>
                        <a:t>You need a </a:t>
                      </a:r>
                      <a:r>
                        <a:rPr b="1" lang="uk" sz="1100">
                          <a:solidFill>
                            <a:schemeClr val="dk1"/>
                          </a:solidFill>
                        </a:rPr>
                        <a:t>versatile tool</a:t>
                      </a:r>
                      <a:r>
                        <a:rPr lang="uk" sz="1100">
                          <a:solidFill>
                            <a:schemeClr val="dk1"/>
                          </a:solidFill>
                        </a:rPr>
                        <a:t> that supports multiple protocols (FTP, SCP, SMTP, etc.) in addition to HTTP.</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uk" sz="1100">
                          <a:solidFill>
                            <a:schemeClr val="dk1"/>
                          </a:solidFill>
                        </a:rPr>
                        <a:t>You require </a:t>
                      </a:r>
                      <a:r>
                        <a:rPr b="1" lang="uk" sz="1100">
                          <a:solidFill>
                            <a:schemeClr val="dk1"/>
                          </a:solidFill>
                        </a:rPr>
                        <a:t>detailed control</a:t>
                      </a:r>
                      <a:r>
                        <a:rPr lang="uk" sz="1100">
                          <a:solidFill>
                            <a:schemeClr val="dk1"/>
                          </a:solidFill>
                        </a:rPr>
                        <a:t> over every aspect of the HTTP request (headers, timeouts, retries, etc.).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uk" sz="1100">
                          <a:solidFill>
                            <a:schemeClr val="dk1"/>
                          </a:solidFill>
                        </a:rPr>
                        <a:t>You’re looking for a robust tool for </a:t>
                      </a:r>
                      <a:r>
                        <a:rPr b="1" lang="uk" sz="1100">
                          <a:solidFill>
                            <a:schemeClr val="dk1"/>
                          </a:solidFill>
                        </a:rPr>
                        <a:t>scripting</a:t>
                      </a:r>
                      <a:r>
                        <a:rPr lang="uk" sz="1100">
                          <a:solidFill>
                            <a:schemeClr val="dk1"/>
                          </a:solidFill>
                        </a:rPr>
                        <a:t> and automation, especially in network administration or CI/CD pipelines.</a:t>
                      </a:r>
                      <a:endParaRPr sz="1100">
                        <a:solidFill>
                          <a:schemeClr val="dk1"/>
                        </a:solidFill>
                      </a:endParaRPr>
                    </a:p>
                    <a:p>
                      <a:pPr indent="0" lvl="0" marL="0" rtl="0" algn="l">
                        <a:spcBef>
                          <a:spcPts val="1200"/>
                        </a:spcBef>
                        <a:spcAft>
                          <a:spcPts val="0"/>
                        </a:spcAft>
                        <a:buNone/>
                      </a:pPr>
                      <a:r>
                        <a:t/>
                      </a:r>
                      <a:endParaRPr sz="1100">
                        <a:solidFill>
                          <a:schemeClr val="dk1"/>
                        </a:solidFill>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b="1" lang="uk" sz="1100">
                          <a:solidFill>
                            <a:schemeClr val="dk1"/>
                          </a:solidFill>
                        </a:rPr>
                        <a:t>Use </a:t>
                      </a:r>
                      <a:r>
                        <a:rPr lang="uk" sz="1100">
                          <a:solidFill>
                            <a:schemeClr val="dk1"/>
                          </a:solidFill>
                        </a:rPr>
                        <a:t>if:</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uk" sz="1100">
                          <a:solidFill>
                            <a:schemeClr val="dk1"/>
                          </a:solidFill>
                        </a:rPr>
                        <a:t>You want a human-friendly tool for interacting with web APIs and prefer clean, readable output.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uk" sz="1100">
                          <a:solidFill>
                            <a:schemeClr val="dk1"/>
                          </a:solidFill>
                        </a:rPr>
                        <a:t>You primarily work with HTTP/HTTPS and need a lightweight, easy-to-use solution.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uk" sz="1100">
                          <a:solidFill>
                            <a:schemeClr val="dk1"/>
                          </a:solidFill>
                        </a:rPr>
                        <a:t>You need to quickly debug or test RESTful APIs.</a:t>
                      </a:r>
                      <a:endParaRPr sz="1100">
                        <a:solidFill>
                          <a:schemeClr val="dk1"/>
                        </a:solidFill>
                      </a:endParaRPr>
                    </a:p>
                  </a:txBody>
                  <a:tcPr marT="91425" marB="91425" marR="91425" marL="91425"/>
                </a:tc>
              </a:tr>
            </a:tbl>
          </a:graphicData>
        </a:graphic>
      </p:graphicFrame>
      <p:sp>
        <p:nvSpPr>
          <p:cNvPr id="189" name="Google Shape;189;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Benefit? (HTTPie vs cUrl)</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36"/>
          <p:cNvPicPr preferRelativeResize="0"/>
          <p:nvPr/>
        </p:nvPicPr>
        <p:blipFill>
          <a:blip r:embed="rId3">
            <a:alphaModFix/>
          </a:blip>
          <a:stretch>
            <a:fillRect/>
          </a:stretch>
        </p:blipFill>
        <p:spPr>
          <a:xfrm>
            <a:off x="417475" y="492125"/>
            <a:ext cx="7954801" cy="40822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7"/>
          <p:cNvPicPr preferRelativeResize="0"/>
          <p:nvPr/>
        </p:nvPicPr>
        <p:blipFill>
          <a:blip r:embed="rId3">
            <a:alphaModFix/>
          </a:blip>
          <a:stretch>
            <a:fillRect/>
          </a:stretch>
        </p:blipFill>
        <p:spPr>
          <a:xfrm>
            <a:off x="152400" y="152400"/>
            <a:ext cx="8334449" cy="48387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38"/>
          <p:cNvPicPr preferRelativeResize="0"/>
          <p:nvPr/>
        </p:nvPicPr>
        <p:blipFill>
          <a:blip r:embed="rId3">
            <a:alphaModFix/>
          </a:blip>
          <a:stretch>
            <a:fillRect/>
          </a:stretch>
        </p:blipFill>
        <p:spPr>
          <a:xfrm>
            <a:off x="2100588" y="152400"/>
            <a:ext cx="4942823" cy="48386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HTTPie CLI</a:t>
            </a:r>
            <a:endParaRPr/>
          </a:p>
        </p:txBody>
      </p:sp>
      <p:pic>
        <p:nvPicPr>
          <p:cNvPr id="210" name="Google Shape;210;p39"/>
          <p:cNvPicPr preferRelativeResize="0"/>
          <p:nvPr/>
        </p:nvPicPr>
        <p:blipFill>
          <a:blip r:embed="rId3">
            <a:alphaModFix/>
          </a:blip>
          <a:stretch>
            <a:fillRect/>
          </a:stretch>
        </p:blipFill>
        <p:spPr>
          <a:xfrm>
            <a:off x="3622613" y="1017725"/>
            <a:ext cx="1898766" cy="38209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DEMO</a:t>
            </a:r>
            <a:endParaRPr/>
          </a:p>
        </p:txBody>
      </p:sp>
      <p:sp>
        <p:nvSpPr>
          <p:cNvPr id="216" name="Google Shape;21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uk"/>
              <a:t>My </a:t>
            </a:r>
            <a:r>
              <a:rPr lang="uk"/>
              <a:t>Conclusion</a:t>
            </a:r>
            <a:endParaRPr/>
          </a:p>
        </p:txBody>
      </p:sp>
      <p:sp>
        <p:nvSpPr>
          <p:cNvPr id="222" name="Google Shape;22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uk"/>
              <a:t>I would </a:t>
            </a:r>
            <a:r>
              <a:rPr lang="uk"/>
              <a:t>definitely</a:t>
            </a:r>
            <a:r>
              <a:rPr lang="uk"/>
              <a:t> use this HTTPie tool on a new project</a:t>
            </a:r>
            <a:endParaRPr/>
          </a:p>
          <a:p>
            <a:pPr indent="-342900" lvl="0" marL="457200" rtl="0" algn="l">
              <a:spcBef>
                <a:spcPts val="0"/>
              </a:spcBef>
              <a:spcAft>
                <a:spcPts val="0"/>
              </a:spcAft>
              <a:buSzPts val="1800"/>
              <a:buChar char="●"/>
            </a:pPr>
            <a:r>
              <a:rPr lang="uk"/>
              <a:t>Nice to have 3 tools in one.</a:t>
            </a:r>
            <a:endParaRPr/>
          </a:p>
          <a:p>
            <a:pPr indent="-342900" lvl="0" marL="457200" rtl="0" algn="l">
              <a:spcBef>
                <a:spcPts val="0"/>
              </a:spcBef>
              <a:spcAft>
                <a:spcPts val="0"/>
              </a:spcAft>
              <a:buSzPts val="1800"/>
              <a:buChar char="●"/>
            </a:pPr>
            <a:r>
              <a:rPr lang="uk"/>
              <a:t>Desktop</a:t>
            </a:r>
            <a:r>
              <a:rPr lang="uk"/>
              <a:t> features not so </a:t>
            </a:r>
            <a:r>
              <a:rPr lang="uk"/>
              <a:t>powerful</a:t>
            </a:r>
            <a:r>
              <a:rPr lang="uk"/>
              <a:t> as Postman has</a:t>
            </a:r>
            <a:endParaRPr/>
          </a:p>
          <a:p>
            <a:pPr indent="-342900" lvl="0" marL="457200" rtl="0" algn="l">
              <a:spcBef>
                <a:spcPts val="0"/>
              </a:spcBef>
              <a:spcAft>
                <a:spcPts val="0"/>
              </a:spcAft>
              <a:buSzPts val="1800"/>
              <a:buChar char="●"/>
            </a:pPr>
            <a:r>
              <a:rPr lang="uk"/>
              <a:t>Terminal cli not </a:t>
            </a:r>
            <a:r>
              <a:rPr lang="uk"/>
              <a:t>versatile - but does dev need it?</a:t>
            </a:r>
            <a:endParaRPr/>
          </a:p>
          <a:p>
            <a:pPr indent="-342900" lvl="0" marL="457200" rtl="0" algn="l">
              <a:spcBef>
                <a:spcPts val="0"/>
              </a:spcBef>
              <a:spcAft>
                <a:spcPts val="0"/>
              </a:spcAft>
              <a:buSzPts val="1800"/>
              <a:buChar char="●"/>
            </a:pPr>
            <a:r>
              <a:rPr lang="uk"/>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